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391" r:id="rId7"/>
    <p:sldId id="411" r:id="rId8"/>
    <p:sldId id="408" r:id="rId9"/>
    <p:sldId id="412" r:id="rId10"/>
    <p:sldId id="403" r:id="rId11"/>
    <p:sldId id="413" r:id="rId12"/>
    <p:sldId id="414" r:id="rId13"/>
    <p:sldId id="415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6327" autoAdjust="0"/>
  </p:normalViewPr>
  <p:slideViewPr>
    <p:cSldViewPr snapToGrid="0">
      <p:cViewPr varScale="1">
        <p:scale>
          <a:sx n="69" d="100"/>
          <a:sy n="69" d="100"/>
        </p:scale>
        <p:origin x="69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Barfa" userId="3a05486d742f45c5" providerId="LiveId" clId="{AE2657C8-E0F9-4D9F-90F3-AE9439658E33}"/>
    <pc:docChg chg="modSld">
      <pc:chgData name="Harshita Barfa" userId="3a05486d742f45c5" providerId="LiveId" clId="{AE2657C8-E0F9-4D9F-90F3-AE9439658E33}" dt="2025-03-27T06:06:07.339" v="310" actId="20577"/>
      <pc:docMkLst>
        <pc:docMk/>
      </pc:docMkLst>
      <pc:sldChg chg="modSp mod">
        <pc:chgData name="Harshita Barfa" userId="3a05486d742f45c5" providerId="LiveId" clId="{AE2657C8-E0F9-4D9F-90F3-AE9439658E33}" dt="2025-03-27T05:20:05.417" v="300" actId="20577"/>
        <pc:sldMkLst>
          <pc:docMk/>
          <pc:sldMk cId="3346685798" sldId="383"/>
        </pc:sldMkLst>
        <pc:spChg chg="mod">
          <ac:chgData name="Harshita Barfa" userId="3a05486d742f45c5" providerId="LiveId" clId="{AE2657C8-E0F9-4D9F-90F3-AE9439658E33}" dt="2025-03-27T05:20:05.417" v="300" actId="20577"/>
          <ac:spMkLst>
            <pc:docMk/>
            <pc:sldMk cId="3346685798" sldId="383"/>
            <ac:spMk id="3" creationId="{3B8EBC2C-6DD7-5003-38EB-40753046FE8C}"/>
          </ac:spMkLst>
        </pc:spChg>
      </pc:sldChg>
      <pc:sldChg chg="addSp modSp mod">
        <pc:chgData name="Harshita Barfa" userId="3a05486d742f45c5" providerId="LiveId" clId="{AE2657C8-E0F9-4D9F-90F3-AE9439658E33}" dt="2025-03-27T05:19:53.639" v="293" actId="948"/>
        <pc:sldMkLst>
          <pc:docMk/>
          <pc:sldMk cId="3200312026" sldId="391"/>
        </pc:sldMkLst>
        <pc:spChg chg="add">
          <ac:chgData name="Harshita Barfa" userId="3a05486d742f45c5" providerId="LiveId" clId="{AE2657C8-E0F9-4D9F-90F3-AE9439658E33}" dt="2025-03-27T05:13:25.687" v="9"/>
          <ac:spMkLst>
            <pc:docMk/>
            <pc:sldMk cId="3200312026" sldId="391"/>
            <ac:spMk id="2" creationId="{E1809D56-23DE-61B1-37EE-41A4D25BFBBC}"/>
          </ac:spMkLst>
        </pc:spChg>
        <pc:spChg chg="add">
          <ac:chgData name="Harshita Barfa" userId="3a05486d742f45c5" providerId="LiveId" clId="{AE2657C8-E0F9-4D9F-90F3-AE9439658E33}" dt="2025-03-27T05:13:28.593" v="10"/>
          <ac:spMkLst>
            <pc:docMk/>
            <pc:sldMk cId="3200312026" sldId="391"/>
            <ac:spMk id="4" creationId="{2726B2D3-6718-A99E-F0E0-81415F21A883}"/>
          </ac:spMkLst>
        </pc:spChg>
        <pc:spChg chg="add">
          <ac:chgData name="Harshita Barfa" userId="3a05486d742f45c5" providerId="LiveId" clId="{AE2657C8-E0F9-4D9F-90F3-AE9439658E33}" dt="2025-03-27T05:13:32.837" v="15"/>
          <ac:spMkLst>
            <pc:docMk/>
            <pc:sldMk cId="3200312026" sldId="391"/>
            <ac:spMk id="5" creationId="{5A2952AC-ECDB-3915-7273-07240D386639}"/>
          </ac:spMkLst>
        </pc:spChg>
        <pc:spChg chg="add">
          <ac:chgData name="Harshita Barfa" userId="3a05486d742f45c5" providerId="LiveId" clId="{AE2657C8-E0F9-4D9F-90F3-AE9439658E33}" dt="2025-03-27T05:14:37.796" v="72"/>
          <ac:spMkLst>
            <pc:docMk/>
            <pc:sldMk cId="3200312026" sldId="391"/>
            <ac:spMk id="6" creationId="{5334F95D-399E-61A3-A625-2DF0ECF2BD95}"/>
          </ac:spMkLst>
        </pc:spChg>
        <pc:spChg chg="mod">
          <ac:chgData name="Harshita Barfa" userId="3a05486d742f45c5" providerId="LiveId" clId="{AE2657C8-E0F9-4D9F-90F3-AE9439658E33}" dt="2025-03-27T05:19:53.639" v="293" actId="948"/>
          <ac:spMkLst>
            <pc:docMk/>
            <pc:sldMk cId="3200312026" sldId="391"/>
            <ac:spMk id="7" creationId="{F70BD87D-F7DA-961B-4024-A354DC87D168}"/>
          </ac:spMkLst>
        </pc:spChg>
        <pc:spChg chg="add">
          <ac:chgData name="Harshita Barfa" userId="3a05486d742f45c5" providerId="LiveId" clId="{AE2657C8-E0F9-4D9F-90F3-AE9439658E33}" dt="2025-03-27T05:14:47.102" v="85"/>
          <ac:spMkLst>
            <pc:docMk/>
            <pc:sldMk cId="3200312026" sldId="391"/>
            <ac:spMk id="8" creationId="{25C5AB9E-2D1A-837E-9E0D-325D22BACDC8}"/>
          </ac:spMkLst>
        </pc:spChg>
        <pc:spChg chg="add">
          <ac:chgData name="Harshita Barfa" userId="3a05486d742f45c5" providerId="LiveId" clId="{AE2657C8-E0F9-4D9F-90F3-AE9439658E33}" dt="2025-03-27T05:14:53.647" v="86"/>
          <ac:spMkLst>
            <pc:docMk/>
            <pc:sldMk cId="3200312026" sldId="391"/>
            <ac:spMk id="9" creationId="{DB6FB643-2806-F310-E5AD-671F190DD2AC}"/>
          </ac:spMkLst>
        </pc:spChg>
        <pc:spChg chg="add">
          <ac:chgData name="Harshita Barfa" userId="3a05486d742f45c5" providerId="LiveId" clId="{AE2657C8-E0F9-4D9F-90F3-AE9439658E33}" dt="2025-03-27T05:16:53.768" v="148"/>
          <ac:spMkLst>
            <pc:docMk/>
            <pc:sldMk cId="3200312026" sldId="391"/>
            <ac:spMk id="10" creationId="{C01743FA-0824-FB41-074E-68EC0EC3FDE2}"/>
          </ac:spMkLst>
        </pc:spChg>
      </pc:sldChg>
      <pc:sldChg chg="modSp mod">
        <pc:chgData name="Harshita Barfa" userId="3a05486d742f45c5" providerId="LiveId" clId="{AE2657C8-E0F9-4D9F-90F3-AE9439658E33}" dt="2025-03-27T05:36:51.578" v="302" actId="20577"/>
        <pc:sldMkLst>
          <pc:docMk/>
          <pc:sldMk cId="4275965220" sldId="411"/>
        </pc:sldMkLst>
        <pc:spChg chg="mod">
          <ac:chgData name="Harshita Barfa" userId="3a05486d742f45c5" providerId="LiveId" clId="{AE2657C8-E0F9-4D9F-90F3-AE9439658E33}" dt="2025-03-27T05:36:51.578" v="302" actId="20577"/>
          <ac:spMkLst>
            <pc:docMk/>
            <pc:sldMk cId="4275965220" sldId="411"/>
            <ac:spMk id="3" creationId="{DBD5459B-FE97-8AC2-B7B8-A455E4C7C1DB}"/>
          </ac:spMkLst>
        </pc:spChg>
      </pc:sldChg>
      <pc:sldChg chg="modSp mod">
        <pc:chgData name="Harshita Barfa" userId="3a05486d742f45c5" providerId="LiveId" clId="{AE2657C8-E0F9-4D9F-90F3-AE9439658E33}" dt="2025-03-27T05:40:49.530" v="307" actId="20577"/>
        <pc:sldMkLst>
          <pc:docMk/>
          <pc:sldMk cId="575323230" sldId="412"/>
        </pc:sldMkLst>
        <pc:spChg chg="mod">
          <ac:chgData name="Harshita Barfa" userId="3a05486d742f45c5" providerId="LiveId" clId="{AE2657C8-E0F9-4D9F-90F3-AE9439658E33}" dt="2025-03-27T05:40:49.530" v="307" actId="20577"/>
          <ac:spMkLst>
            <pc:docMk/>
            <pc:sldMk cId="575323230" sldId="412"/>
            <ac:spMk id="3" creationId="{5367585B-2E64-E911-803C-5C676FD03F2A}"/>
          </ac:spMkLst>
        </pc:spChg>
      </pc:sldChg>
      <pc:sldChg chg="modSp mod">
        <pc:chgData name="Harshita Barfa" userId="3a05486d742f45c5" providerId="LiveId" clId="{AE2657C8-E0F9-4D9F-90F3-AE9439658E33}" dt="2025-03-26T18:21:46.466" v="4" actId="20577"/>
        <pc:sldMkLst>
          <pc:docMk/>
          <pc:sldMk cId="3602820214" sldId="414"/>
        </pc:sldMkLst>
        <pc:spChg chg="mod">
          <ac:chgData name="Harshita Barfa" userId="3a05486d742f45c5" providerId="LiveId" clId="{AE2657C8-E0F9-4D9F-90F3-AE9439658E33}" dt="2025-03-26T18:21:46.466" v="4" actId="20577"/>
          <ac:spMkLst>
            <pc:docMk/>
            <pc:sldMk cId="3602820214" sldId="414"/>
            <ac:spMk id="3" creationId="{C2788D7E-A964-B527-FC00-13A67A2BCEBF}"/>
          </ac:spMkLst>
        </pc:spChg>
      </pc:sldChg>
      <pc:sldChg chg="modSp mod">
        <pc:chgData name="Harshita Barfa" userId="3a05486d742f45c5" providerId="LiveId" clId="{AE2657C8-E0F9-4D9F-90F3-AE9439658E33}" dt="2025-03-27T06:06:07.339" v="310" actId="20577"/>
        <pc:sldMkLst>
          <pc:docMk/>
          <pc:sldMk cId="1690001943" sldId="415"/>
        </pc:sldMkLst>
        <pc:spChg chg="mod">
          <ac:chgData name="Harshita Barfa" userId="3a05486d742f45c5" providerId="LiveId" clId="{AE2657C8-E0F9-4D9F-90F3-AE9439658E33}" dt="2025-03-27T06:06:07.339" v="310" actId="20577"/>
          <ac:spMkLst>
            <pc:docMk/>
            <pc:sldMk cId="1690001943" sldId="415"/>
            <ac:spMk id="3" creationId="{02F92C11-DE65-9BE7-5AC6-CEA7EFA748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EAE4-BB48-9989-7A2A-6C940E7D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3E435-81CB-B378-A068-CBA82D47A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30995-4496-5982-56AC-5318EA309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9205-5BDD-CAB4-C679-3037D1F35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83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FF214-00E0-F39C-FC85-D1C56680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A0FEF-EB41-218D-A4BC-D37A2DBDD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936B6-9092-1DFD-0CFE-75BCB577D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B6AF2-5C77-D14A-82C1-11B34C167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69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21C0-6F63-BFF9-EB43-8B22B3AF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423BF-72D6-EC21-E166-E3ED5FDA7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468BE-1B57-2036-A3EE-8300DA349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BD273-27F4-15A0-1733-A2E86F1CE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423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B8C65-5D43-75D4-008B-D417C39D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D766F-E53F-E1D5-C64B-11DA1AD6A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827CC-73C0-2370-3EDE-02C17C555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2B14C-8735-27AD-63EC-2CA78C14E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647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D3FB-DAAE-D770-7211-FCCED051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A0346-D7DB-C1FA-D98A-EFA6ADB88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3DE97-9761-B796-48D6-FEF517926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388F7-1E5A-F6CB-B50B-5A909B5FC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562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6109" y="2078182"/>
            <a:ext cx="5492485" cy="2840182"/>
          </a:xfrm>
        </p:spPr>
        <p:txBody>
          <a:bodyPr/>
          <a:lstStyle/>
          <a:p>
            <a:pPr>
              <a:buNone/>
            </a:pPr>
            <a:r>
              <a:rPr lang="en-US" sz="2800" b="0" dirty="0"/>
              <a:t>Introduction</a:t>
            </a:r>
            <a:br>
              <a:rPr lang="en-US" sz="2800" b="0" dirty="0"/>
            </a:br>
            <a:br>
              <a:rPr lang="en-US" sz="2800" b="0" dirty="0"/>
            </a:br>
            <a:r>
              <a:rPr lang="en-US" sz="2800" b="0" dirty="0"/>
              <a:t>Topic : Sub-queries &amp; Co-related Sub-queries in DBMS</a:t>
            </a:r>
            <a:br>
              <a:rPr lang="en-US" sz="2800" b="0" dirty="0"/>
            </a:br>
            <a:br>
              <a:rPr lang="en-US" sz="2800" b="0" dirty="0"/>
            </a:br>
            <a:r>
              <a:rPr lang="en-US" sz="2800" b="0" dirty="0"/>
              <a:t>Presented By : [Harshita Barfa]</a:t>
            </a:r>
            <a:br>
              <a:rPr lang="en-US" sz="1400" b="0" dirty="0"/>
            </a:br>
            <a:br>
              <a:rPr lang="en-US" sz="4800" b="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endParaRPr lang="en-US" sz="4800" b="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2304246"/>
          </a:xfrm>
        </p:spPr>
        <p:txBody>
          <a:bodyPr/>
          <a:lstStyle/>
          <a:p>
            <a:r>
              <a:rPr lang="en-US" sz="3200" b="0" dirty="0"/>
              <a:t>What is a Sub-query?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9"/>
            <a:ext cx="6788150" cy="3343706"/>
          </a:xfrm>
        </p:spPr>
        <p:txBody>
          <a:bodyPr tIns="45720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A </a:t>
            </a:r>
            <a:r>
              <a:rPr lang="en-US" sz="2000" dirty="0">
                <a:solidFill>
                  <a:schemeClr val="bg1"/>
                </a:solidFill>
              </a:rPr>
              <a:t>sub-query</a:t>
            </a:r>
            <a:r>
              <a:rPr lang="en-US" sz="2000" b="0" dirty="0">
                <a:solidFill>
                  <a:schemeClr val="bg1"/>
                </a:solidFill>
              </a:rPr>
              <a:t> is a query inside another query.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It is also called a </a:t>
            </a:r>
            <a:r>
              <a:rPr lang="en-US" sz="2000" dirty="0">
                <a:solidFill>
                  <a:schemeClr val="bg1"/>
                </a:solidFill>
              </a:rPr>
              <a:t>nested query</a:t>
            </a:r>
            <a:r>
              <a:rPr lang="en-US" sz="2000" b="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Used to retrieve data that will be used by the main query.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Can be placed in SELECT, FROM, or WHERE clauses.</a:t>
            </a:r>
          </a:p>
          <a:p>
            <a:endParaRPr lang="en-US" sz="2000" b="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2349380"/>
          </a:xfrm>
        </p:spPr>
        <p:txBody>
          <a:bodyPr/>
          <a:lstStyle/>
          <a:p>
            <a:r>
              <a:rPr lang="en-US" sz="3200" b="0" dirty="0"/>
              <a:t>Types of Sub-queries :</a:t>
            </a:r>
            <a:br>
              <a:rPr lang="en-US" b="0" dirty="0"/>
            </a:br>
            <a:endParaRPr lang="en-US" b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7"/>
            <a:ext cx="7810500" cy="360949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200"/>
              </a:spcBef>
              <a:buFont typeface="+mj-lt"/>
              <a:buAutoNum type="arabicPeriod"/>
            </a:pPr>
            <a:r>
              <a:rPr lang="en-US" b="1" dirty="0"/>
              <a:t>Single-row sub-queries</a:t>
            </a:r>
            <a:r>
              <a:rPr lang="en-US" dirty="0"/>
              <a:t> (returns one row). It is used with relational operators such as =, &lt;, &gt;, &lt;=, and &gt;=.</a:t>
            </a:r>
          </a:p>
          <a:p>
            <a:pPr>
              <a:lnSpc>
                <a:spcPct val="100000"/>
              </a:lnSpc>
              <a:spcBef>
                <a:spcPts val="2200"/>
              </a:spcBef>
              <a:buFont typeface="+mj-lt"/>
              <a:buAutoNum type="arabicPeriod"/>
            </a:pPr>
            <a:r>
              <a:rPr lang="en-US" b="1" dirty="0"/>
              <a:t>Multiple-row sub-queries</a:t>
            </a:r>
            <a:r>
              <a:rPr lang="en-US" dirty="0"/>
              <a:t> (returns multiple rows). It is used with operators like IN, ANY, and ALL.</a:t>
            </a:r>
          </a:p>
          <a:p>
            <a:pPr>
              <a:lnSpc>
                <a:spcPct val="100000"/>
              </a:lnSpc>
              <a:spcBef>
                <a:spcPts val="2200"/>
              </a:spcBef>
              <a:buFont typeface="+mj-lt"/>
              <a:buAutoNum type="arabicPeriod"/>
            </a:pPr>
            <a:r>
              <a:rPr lang="en-US" b="1" dirty="0"/>
              <a:t>Multiple-column sub-queries</a:t>
            </a:r>
            <a:r>
              <a:rPr lang="en-US" dirty="0"/>
              <a:t> (returns multiple columns). It is used in the main query within the WHERE or FROM clause.</a:t>
            </a:r>
          </a:p>
          <a:p>
            <a:pPr>
              <a:spcBef>
                <a:spcPts val="2200"/>
              </a:spcBef>
              <a:buFont typeface="+mj-lt"/>
              <a:buAutoNum type="arabicPeriod"/>
            </a:pPr>
            <a:r>
              <a:rPr lang="en-US" b="1" dirty="0"/>
              <a:t>Co-related sub-queries</a:t>
            </a:r>
            <a:r>
              <a:rPr lang="en-US" dirty="0"/>
              <a:t> (dependent on the outer query).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2D5E-957B-A92D-AA58-35FF1BEE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7ACA-511D-0C62-082D-850B90DF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2091667"/>
          </a:xfrm>
        </p:spPr>
        <p:txBody>
          <a:bodyPr/>
          <a:lstStyle/>
          <a:p>
            <a:r>
              <a:rPr lang="en-US" sz="3200" b="0" dirty="0"/>
              <a:t>Example of a sub-query :</a:t>
            </a:r>
            <a:br>
              <a:rPr lang="en-US" sz="3200" b="0" dirty="0"/>
            </a:br>
            <a:endParaRPr lang="en-US" sz="32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5459B-FE97-8AC2-B7B8-A455E4C7C1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9"/>
            <a:ext cx="6788150" cy="3343706"/>
          </a:xfrm>
        </p:spPr>
        <p:txBody>
          <a:bodyPr tIns="457200"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70C0"/>
                </a:solidFill>
              </a:rPr>
              <a:t>SELECT name, salary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70C0"/>
                </a:solidFill>
              </a:rPr>
              <a:t>FROM employees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70C0"/>
                </a:solidFill>
              </a:rPr>
              <a:t>WHERE salary &gt; (SELECT AVG(salary) FROM employees);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b="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96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8"/>
            <a:ext cx="9778365" cy="2049435"/>
          </a:xfrm>
        </p:spPr>
        <p:txBody>
          <a:bodyPr/>
          <a:lstStyle/>
          <a:p>
            <a:r>
              <a:rPr lang="en-US" sz="3200" b="0" dirty="0"/>
              <a:t>What is a Co-Related Sub-query?</a:t>
            </a:r>
            <a:br>
              <a:rPr lang="en-US" sz="3200" b="0" dirty="0"/>
            </a:br>
            <a:endParaRPr lang="en-US" sz="32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59" y="2676525"/>
            <a:ext cx="8106295" cy="3597470"/>
          </a:xfrm>
        </p:spPr>
        <p:txBody>
          <a:bodyPr/>
          <a:lstStyle/>
          <a:p>
            <a:pPr marL="342900" indent="-342900">
              <a:spcBef>
                <a:spcPts val="2200"/>
              </a:spcBef>
              <a:buFont typeface="Arial" panose="020B0604020202020204" pitchFamily="34" charset="0"/>
              <a:buChar char="•"/>
            </a:pPr>
            <a:r>
              <a:rPr lang="en-US" dirty="0"/>
              <a:t> A </a:t>
            </a:r>
            <a:r>
              <a:rPr lang="en-US" b="1" dirty="0"/>
              <a:t>correlated subquery</a:t>
            </a:r>
            <a:r>
              <a:rPr lang="en-US" dirty="0"/>
              <a:t> uses values from the outer query.</a:t>
            </a:r>
          </a:p>
          <a:p>
            <a:pPr marL="342900" indent="-342900">
              <a:spcBef>
                <a:spcPts val="2200"/>
              </a:spcBef>
              <a:buFont typeface="Arial" panose="020B0604020202020204" pitchFamily="34" charset="0"/>
              <a:buChar char="•"/>
            </a:pPr>
            <a:r>
              <a:rPr lang="en-US" dirty="0"/>
              <a:t> It executes once for each row processed by the outer query.</a:t>
            </a:r>
          </a:p>
          <a:p>
            <a:pPr marL="342900" indent="-342900">
              <a:spcBef>
                <a:spcPts val="2200"/>
              </a:spcBef>
              <a:buFont typeface="Arial" panose="020B0604020202020204" pitchFamily="34" charset="0"/>
              <a:buChar char="•"/>
            </a:pPr>
            <a:r>
              <a:rPr lang="en-US" dirty="0"/>
              <a:t> Cannot be executed independently.</a:t>
            </a:r>
          </a:p>
          <a:p>
            <a:pPr>
              <a:spcBef>
                <a:spcPts val="22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DA60-570B-75E7-362A-3923CF88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1CB4-2189-1E07-AA4E-B85E5DF9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189572"/>
            <a:ext cx="6263640" cy="2091667"/>
          </a:xfrm>
        </p:spPr>
        <p:txBody>
          <a:bodyPr/>
          <a:lstStyle/>
          <a:p>
            <a:r>
              <a:rPr lang="en-US" sz="3200" b="0" dirty="0"/>
              <a:t>Example of a Co-related sub-query :</a:t>
            </a:r>
            <a:br>
              <a:rPr lang="en-US" sz="3200" b="0" dirty="0"/>
            </a:br>
            <a:endParaRPr lang="en-US" sz="32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585B-2E64-E911-803C-5C676FD03F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9"/>
            <a:ext cx="6788150" cy="3343706"/>
          </a:xfrm>
        </p:spPr>
        <p:txBody>
          <a:bodyPr tIns="457200"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70C0"/>
                </a:solidFill>
              </a:rPr>
              <a:t>SELECT e1.name, e1.salary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70C0"/>
                </a:solidFill>
              </a:rPr>
              <a:t>FROM employees e1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70C0"/>
                </a:solidFill>
              </a:rPr>
              <a:t>WHERE e1.salary &gt; (SELECT AVG(e2.salary) FROM employees e2 WHERE e1.department_id = e2.department_id);</a:t>
            </a:r>
          </a:p>
          <a:p>
            <a:pPr marL="0" indent="0">
              <a:buNone/>
            </a:pPr>
            <a:endParaRPr lang="en-US" sz="2000" b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b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b="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32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729704"/>
          </a:xfrm>
        </p:spPr>
        <p:txBody>
          <a:bodyPr/>
          <a:lstStyle/>
          <a:p>
            <a:r>
              <a:rPr lang="en-US" sz="3200" b="0" dirty="0"/>
              <a:t>Differences Between Sub-query &amp; Co-related Sub-query :</a:t>
            </a:r>
            <a:br>
              <a:rPr lang="en-US" sz="3200" b="0" dirty="0"/>
            </a:br>
            <a:endParaRPr lang="en-US" sz="3200" dirty="0"/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4D1FB21E-CCFB-8E64-064C-DB8195F8684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835444375"/>
              </p:ext>
            </p:extLst>
          </p:nvPr>
        </p:nvGraphicFramePr>
        <p:xfrm>
          <a:off x="593724" y="2628899"/>
          <a:ext cx="10725438" cy="30237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57514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57514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357514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</a:tblGrid>
              <a:tr h="75593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Sub-query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Co-related Sub-query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559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Runs once before outer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Runs once per row in outer 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559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 run separately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Depends on outer 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559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Usually 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 be 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C2E3-6CBA-A8B3-0EE8-383A3739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95DCAE-2317-4CB6-BD94-03E9E9B3C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2349380"/>
          </a:xfrm>
        </p:spPr>
        <p:txBody>
          <a:bodyPr/>
          <a:lstStyle/>
          <a:p>
            <a:r>
              <a:rPr lang="en-US" sz="3200" b="0" dirty="0"/>
              <a:t>Advantages of Sub-queries :</a:t>
            </a:r>
            <a:br>
              <a:rPr lang="en-US" b="1" dirty="0"/>
            </a:br>
            <a:endParaRPr lang="en-US" b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516A0D-2E3E-E10E-0B7B-148E1AAAFA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452255"/>
            <a:ext cx="7810500" cy="3200399"/>
          </a:xfrm>
        </p:spPr>
        <p:txBody>
          <a:bodyPr>
            <a:normAutofit/>
          </a:bodyPr>
          <a:lstStyle/>
          <a:p>
            <a:pPr>
              <a:spcBef>
                <a:spcPts val="2200"/>
              </a:spcBef>
            </a:pPr>
            <a:r>
              <a:rPr lang="en-US" dirty="0"/>
              <a:t>Simplifies complex queries.</a:t>
            </a:r>
          </a:p>
          <a:p>
            <a:pPr>
              <a:spcBef>
                <a:spcPts val="2200"/>
              </a:spcBef>
            </a:pPr>
            <a:r>
              <a:rPr lang="en-US" dirty="0"/>
              <a:t>Makes SQL queries more readable.</a:t>
            </a:r>
          </a:p>
          <a:p>
            <a:pPr>
              <a:spcBef>
                <a:spcPts val="2200"/>
              </a:spcBef>
            </a:pPr>
            <a:r>
              <a:rPr lang="en-US" dirty="0"/>
              <a:t>Helps break down problems into smaller steps.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254A16-A684-412A-2E2C-5E4F4FF4D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E89EF41-5273-0BC6-C44B-C041A4948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2A0667D-FC81-2B2F-5BA6-9CD7E1F28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D2042F8-84CE-EF46-4E6F-255D94211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92910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5B4C9-6F89-F802-3536-5F240557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DFEA9-A1D1-1671-6B5C-A046ABBEE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8"/>
            <a:ext cx="9778365" cy="2049435"/>
          </a:xfrm>
        </p:spPr>
        <p:txBody>
          <a:bodyPr/>
          <a:lstStyle/>
          <a:p>
            <a:r>
              <a:rPr lang="en-US" sz="3200" b="0" dirty="0"/>
              <a:t>Disadvantages of Sub-queries :</a:t>
            </a:r>
            <a:br>
              <a:rPr lang="en-US" sz="3200" b="0" dirty="0"/>
            </a:br>
            <a:endParaRPr lang="en-US" sz="32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88D7E-A964-B527-FC00-13A67A2BCE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59" y="2840181"/>
            <a:ext cx="8106295" cy="3433813"/>
          </a:xfrm>
        </p:spPr>
        <p:txBody>
          <a:bodyPr/>
          <a:lstStyle/>
          <a:p>
            <a:pPr>
              <a:spcBef>
                <a:spcPts val="2200"/>
              </a:spcBef>
              <a:buFont typeface="Arial" panose="020B0604020202020204" pitchFamily="34" charset="0"/>
              <a:buChar char="•"/>
            </a:pPr>
            <a:r>
              <a:rPr lang="en-US" dirty="0"/>
              <a:t>  Can be </a:t>
            </a:r>
            <a:r>
              <a:rPr lang="en-US" b="1" dirty="0"/>
              <a:t>slower</a:t>
            </a:r>
            <a:r>
              <a:rPr lang="en-US" dirty="0"/>
              <a:t> if not optimized.</a:t>
            </a:r>
          </a:p>
          <a:p>
            <a:pPr>
              <a:spcBef>
                <a:spcPts val="2200"/>
              </a:spcBef>
              <a:buFont typeface="Arial" panose="020B0604020202020204" pitchFamily="34" charset="0"/>
              <a:buChar char="•"/>
            </a:pPr>
            <a:r>
              <a:rPr lang="en-US" dirty="0"/>
              <a:t>  Some subqueries may be replaced by </a:t>
            </a:r>
            <a:r>
              <a:rPr lang="en-US" b="1" dirty="0"/>
              <a:t>JOINs</a:t>
            </a:r>
            <a:r>
              <a:rPr lang="en-US" dirty="0"/>
              <a:t> for better performance.</a:t>
            </a:r>
          </a:p>
          <a:p>
            <a:pPr>
              <a:spcBef>
                <a:spcPts val="2200"/>
              </a:spcBef>
              <a:buFont typeface="Arial" panose="020B0604020202020204" pitchFamily="34" charset="0"/>
              <a:buChar char="•"/>
            </a:pPr>
            <a:r>
              <a:rPr lang="en-US" dirty="0"/>
              <a:t>  Correlated subqueries can be expensive for large datasets.</a:t>
            </a:r>
          </a:p>
          <a:p>
            <a:pPr>
              <a:spcBef>
                <a:spcPts val="22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2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CBC6-11AB-3F7E-1B95-2FD6A960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450B-05D5-FD0C-A4C0-76973E3E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2304246"/>
          </a:xfrm>
        </p:spPr>
        <p:txBody>
          <a:bodyPr/>
          <a:lstStyle/>
          <a:p>
            <a:r>
              <a:rPr lang="en-US" sz="3200" b="0" dirty="0"/>
              <a:t>Conclusion 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92C11-DE65-9BE7-5AC6-CEA7EFA748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9"/>
            <a:ext cx="6788150" cy="3343706"/>
          </a:xfrm>
        </p:spPr>
        <p:txBody>
          <a:bodyPr tIns="45720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Sub-queries are useful for writing </a:t>
            </a:r>
            <a:r>
              <a:rPr lang="en-US" sz="2000" dirty="0">
                <a:solidFill>
                  <a:schemeClr val="bg1"/>
                </a:solidFill>
              </a:rPr>
              <a:t>nested</a:t>
            </a:r>
            <a:r>
              <a:rPr lang="en-US" sz="2000" b="0" dirty="0">
                <a:solidFill>
                  <a:schemeClr val="bg1"/>
                </a:solidFill>
              </a:rPr>
              <a:t>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Correlated subqueries allow row-wise comparison but may </a:t>
            </a:r>
            <a:r>
              <a:rPr lang="en-US" sz="2000" dirty="0">
                <a:solidFill>
                  <a:schemeClr val="bg1"/>
                </a:solidFill>
              </a:rPr>
              <a:t>impact performance</a:t>
            </a:r>
            <a:r>
              <a:rPr lang="en-US" sz="2000" b="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JOINs</a:t>
            </a:r>
            <a:r>
              <a:rPr lang="en-US" sz="2000" b="0" dirty="0">
                <a:solidFill>
                  <a:schemeClr val="bg1"/>
                </a:solidFill>
              </a:rPr>
              <a:t> can sometimes replace subqueries for efficiency.</a:t>
            </a:r>
          </a:p>
        </p:txBody>
      </p:sp>
    </p:spTree>
    <p:extLst>
      <p:ext uri="{BB962C8B-B14F-4D97-AF65-F5344CB8AC3E}">
        <p14:creationId xmlns:p14="http://schemas.microsoft.com/office/powerpoint/2010/main" val="1690001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399</TotalTime>
  <Words>393</Words>
  <Application>Microsoft Office PowerPoint</Application>
  <PresentationFormat>Widescreen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Custom</vt:lpstr>
      <vt:lpstr>Introduction  Topic : Sub-queries &amp; Co-related Sub-queries in DBMS  Presented By : [Harshita Barfa]  </vt:lpstr>
      <vt:lpstr>What is a Sub-query? </vt:lpstr>
      <vt:lpstr>Types of Sub-queries : </vt:lpstr>
      <vt:lpstr>Example of a sub-query : </vt:lpstr>
      <vt:lpstr>What is a Co-Related Sub-query? </vt:lpstr>
      <vt:lpstr>Example of a Co-related sub-query : </vt:lpstr>
      <vt:lpstr>Differences Between Sub-query &amp; Co-related Sub-query : </vt:lpstr>
      <vt:lpstr>Advantages of Sub-queries : </vt:lpstr>
      <vt:lpstr>Disadvantages of Sub-queries : </vt:lpstr>
      <vt:lpstr>Conclusion 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Barfa</dc:creator>
  <cp:lastModifiedBy>Harshita Barfa</cp:lastModifiedBy>
  <cp:revision>1</cp:revision>
  <dcterms:created xsi:type="dcterms:W3CDTF">2025-03-26T13:02:51Z</dcterms:created>
  <dcterms:modified xsi:type="dcterms:W3CDTF">2025-03-27T06:06:37Z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